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5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0" i="0">
                <a:solidFill>
                  <a:srgbClr val="FFFFFF"/>
                </a:solidFill>
              </a:rPr>
              <a:t>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SafeHome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6B6D4"/>
                </a:solidFill>
              </a:rPr>
              <a:t>Local-First · Privacy-Focused · Real-Time AI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657600"/>
            <a:ext cx="73152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BD5E1"/>
                </a:solidFill>
              </a:rPr>
              <a:t>Your Android phone as a smart camera.  Your laptop as the AI brain.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0B981"/>
                </a:solidFill>
              </a:rPr>
              <a:t>No cloud  ·  No subscription  ·  No privacy compromise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BD5E1"/>
                </a:solidFill>
              </a:rPr>
              <a:t>AI &amp; Data Science Project  —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06424" cy="274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47548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What's Wrong With Existing Smart Cameras?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4552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828800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81051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📡  Stream live video to third-party cloud servers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212848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194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💸  Require monthly subscriptions to use features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596896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25786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🔒  Major privacy risks — vendors can access your footage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2980944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296265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⏳  High latency due to remote AI processing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364991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334670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🔗  Vendor lock-in with proprietary apps &amp; hardware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754880"/>
            <a:ext cx="11247120" cy="1005840"/>
          </a:xfrm>
          <a:prstGeom prst="rect">
            <a:avLst/>
          </a:prstGeom>
          <a:solidFill>
            <a:srgbClr val="051810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892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0B981"/>
                </a:solidFill>
              </a:rPr>
              <a:t>✅  Our Approach → Everything runs on YOUR hardware. Nothing leaves your home network.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225296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47548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is SafeHome AI?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4552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828800"/>
            <a:ext cx="5303520" cy="3657600"/>
          </a:xfrm>
          <a:prstGeom prst="rect">
            <a:avLst/>
          </a:prstGeom>
          <a:solidFill>
            <a:srgbClr val="131F35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B82F6"/>
                </a:solidFill>
              </a:rPr>
              <a:t>📱  Your Phone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6032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</a:rPr>
              <a:t>Becomes a live security camera
Open browser → Start streaming
No app download needed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828800"/>
            <a:ext cx="5303520" cy="3657600"/>
          </a:xfrm>
          <a:prstGeom prst="rect">
            <a:avLst/>
          </a:prstGeom>
          <a:solidFill>
            <a:srgbClr val="131F35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0116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6B6D4"/>
                </a:solidFill>
              </a:rPr>
              <a:t>💻  Your Laptop / PC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56032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</a:rPr>
              <a:t>Becomes the AI processing hub
Runs object detection in real-time
Stores data locally — no cloud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5303520"/>
            <a:ext cx="11247120" cy="914400"/>
          </a:xfrm>
          <a:prstGeom prst="rect">
            <a:avLst/>
          </a:prstGeom>
          <a:solidFill>
            <a:srgbClr val="051022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4406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B5CF6"/>
                </a:solidFill>
              </a:rPr>
              <a:t>✅ 100% Local     ✅ Under 42ms response     ✅ No cloud video ever     ✅ Free &amp; Open Source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700784" cy="274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47548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How the System is Built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4552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11247120" cy="685800"/>
          </a:xfrm>
          <a:prstGeom prst="rect">
            <a:avLst/>
          </a:prstGeom>
          <a:solidFill>
            <a:srgbClr val="131F35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190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</a:rPr>
              <a:t>📱  Android Phone (Browser)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7373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Streams camera frames over WebSocket on local Wi-Fi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06040"/>
            <a:ext cx="11247120" cy="685800"/>
          </a:xfrm>
          <a:prstGeom prst="rect">
            <a:avLst/>
          </a:prstGeom>
          <a:solidFill>
            <a:srgbClr val="131F35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6791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B6D4"/>
                </a:solidFill>
              </a:rPr>
              <a:t>🖥️  Node.js Gateway (Port 5000)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6974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Manages WebSocket connections · Rule Engine · REST API · Auth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566160"/>
            <a:ext cx="11247120" cy="685800"/>
          </a:xfrm>
          <a:prstGeom prst="rect">
            <a:avLst/>
          </a:prstGeom>
          <a:solidFill>
            <a:srgbClr val="131F35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63931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B5CF6"/>
                </a:solidFill>
              </a:rPr>
              <a:t>🐍  Python AI Service (Port 8000)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36576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YOLOv8 detection · Face analysis · Anomaly scoring · FastAPI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26280"/>
            <a:ext cx="11247120" cy="685800"/>
          </a:xfrm>
          <a:prstGeom prst="rect">
            <a:avLst/>
          </a:prstGeom>
          <a:solidFill>
            <a:srgbClr val="131F3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5994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</a:rPr>
              <a:t>🗄️  Database + Local Storage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46177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SQLite / Supabase for events · JPEG snapshots on local disk 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2331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BD5E1"/>
                </a:solidFill>
              </a:rPr>
              <a:t>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3291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BD5E1"/>
                </a:solidFill>
              </a:rPr>
              <a:t>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4251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BD5E1"/>
                </a:solidFill>
              </a:rPr>
              <a:t>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807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BBF24"/>
                </a:solidFill>
              </a:rPr>
              <a:t>React Dashboard (Port 5173) — Live view, timeline, analytics, settings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463040" cy="2743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47548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Technologies Used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4552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828800"/>
            <a:ext cx="5394960" cy="1097280"/>
          </a:xfrm>
          <a:prstGeom prst="rect">
            <a:avLst/>
          </a:prstGeom>
          <a:solidFill>
            <a:srgbClr val="131F35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0195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React + Vite, Recharts, Axios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828800"/>
            <a:ext cx="5394960" cy="1097280"/>
          </a:xfrm>
          <a:prstGeom prst="rect">
            <a:avLst/>
          </a:prstGeom>
          <a:solidFill>
            <a:srgbClr val="131F35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90195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</a:rPr>
              <a:t>Backend Gateway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860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Node.js, Express, WebSocket (ws)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200400"/>
            <a:ext cx="5394960" cy="1097280"/>
          </a:xfrm>
          <a:prstGeom prst="rect">
            <a:avLst/>
          </a:prstGeom>
          <a:solidFill>
            <a:srgbClr val="131F35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27355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</a:rPr>
              <a:t>AI / ML 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6576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Python, FastAPI, YOLOv8n ONNX, OpenCV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200400"/>
            <a:ext cx="5394960" cy="1097280"/>
          </a:xfrm>
          <a:prstGeom prst="rect">
            <a:avLst/>
          </a:prstGeom>
          <a:solidFill>
            <a:srgbClr val="131F3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27355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6576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SQLite (local) + Supabase PostgreSQL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572000"/>
            <a:ext cx="5394960" cy="1097280"/>
          </a:xfrm>
          <a:prstGeom prst="rect">
            <a:avLst/>
          </a:prstGeom>
          <a:solidFill>
            <a:srgbClr val="131F35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64515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</a:rPr>
              <a:t>Camera Stream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0292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WebSocket / WebRTC (browser-native)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4572000"/>
            <a:ext cx="5394960" cy="1097280"/>
          </a:xfrm>
          <a:prstGeom prst="rect">
            <a:avLst/>
          </a:prstGeom>
          <a:solidFill>
            <a:srgbClr val="131F35"/>
          </a:solidFill>
          <a:ln w="1524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64515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7316"/>
                </a:solidFill>
              </a:rPr>
              <a:t>Auth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0292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JWT Tokens + Supabase Auth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225296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47548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Real-Time AI Detection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4552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828800"/>
            <a:ext cx="11247120" cy="914400"/>
          </a:xfrm>
          <a:prstGeom prst="rect">
            <a:avLst/>
          </a:prstGeom>
          <a:solidFill>
            <a:srgbClr val="131F35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0195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</a:rPr>
              <a:t>👁️  Object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920240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Detects persons, pets, vehicles in every frame using YOLOv8 Nano ONNX. Inference under 20ms.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926080"/>
            <a:ext cx="11247120" cy="914400"/>
          </a:xfrm>
          <a:prstGeom prst="rect">
            <a:avLst/>
          </a:prstGeom>
          <a:solidFill>
            <a:srgbClr val="131F35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9992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B6D4"/>
                </a:solidFill>
              </a:rPr>
              <a:t>😷  Face Occlusion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017520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Detects if face is covered by mask or cloth. No facial identity is ever stored.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023360"/>
            <a:ext cx="11247120" cy="914400"/>
          </a:xfrm>
          <a:prstGeom prst="rect">
            <a:avLst/>
          </a:prstGeom>
          <a:solidFill>
            <a:srgbClr val="131F35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09651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B5CF6"/>
                </a:solidFill>
              </a:rPr>
              <a:t>🚶  Loitering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4114800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Tracks how long a person stays in frame. Triggers alert if duration exceeds threshold.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5120640"/>
            <a:ext cx="11247120" cy="914400"/>
          </a:xfrm>
          <a:prstGeom prst="rect">
            <a:avLst/>
          </a:prstGeom>
          <a:solidFill>
            <a:srgbClr val="131F3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51937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</a:rPr>
              <a:t>📊  Statistical Anomaly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5212079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Compares live activity against a 7-day baseline. Only flags anomalies after 100+ events.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06424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47548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PRIVACY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Privacy by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4552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828800"/>
            <a:ext cx="5577840" cy="1097280"/>
          </a:xfrm>
          <a:prstGeom prst="rect">
            <a:avLst/>
          </a:prstGeom>
          <a:solidFill>
            <a:srgbClr val="131F3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0195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🚫  No Cloud Video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04288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Frames stay on local LAN. Never uploaded anywhere.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828800"/>
            <a:ext cx="5577840" cy="1097280"/>
          </a:xfrm>
          <a:prstGeom prst="rect">
            <a:avLst/>
          </a:prstGeom>
          <a:solidFill>
            <a:srgbClr val="131F3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90195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🚫  No Facial Recognition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304288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Only mask geometry is checked. No identity, no embeddings.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200400"/>
            <a:ext cx="5577840" cy="1097280"/>
          </a:xfrm>
          <a:prstGeom prst="rect">
            <a:avLst/>
          </a:prstGeom>
          <a:solidFill>
            <a:srgbClr val="131F3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27355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🗑️  Auto Data Purge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675887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Snapshots deleted automatically after 7 days by a background worker.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200400"/>
            <a:ext cx="5577840" cy="1097280"/>
          </a:xfrm>
          <a:prstGeom prst="rect">
            <a:avLst/>
          </a:prstGeom>
          <a:solidFill>
            <a:srgbClr val="131F3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27355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📝  Neutral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675887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Alerts say 'Person detected', never 'Intruder' or 'Suspicious'.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572000"/>
            <a:ext cx="5577840" cy="1097280"/>
          </a:xfrm>
          <a:prstGeom prst="rect">
            <a:avLst/>
          </a:prstGeom>
          <a:solidFill>
            <a:srgbClr val="131F3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64515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🚨  No Auto-Dispatch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047488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System will never contact police or emergency services.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4572000"/>
            <a:ext cx="5577840" cy="1097280"/>
          </a:xfrm>
          <a:prstGeom prst="rect">
            <a:avLst/>
          </a:prstGeom>
          <a:solidFill>
            <a:srgbClr val="131F3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64515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📦  GDPR Export &amp; Delete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047488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One-click data export or full account deletion built 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700784" cy="2743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47548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DATA STORAGE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We Store (and What We Don't)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4552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828800"/>
            <a:ext cx="3611880" cy="3840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Data Type</a:t>
            </a:r>
          </a:p>
        </p:txBody>
      </p:sp>
      <p:sp>
        <p:nvSpPr>
          <p:cNvPr id="9" name="Rectangle 8"/>
          <p:cNvSpPr/>
          <p:nvPr/>
        </p:nvSpPr>
        <p:spPr>
          <a:xfrm>
            <a:off x="4069080" y="1828800"/>
            <a:ext cx="1600200" cy="3840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60520" y="187451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Stored?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1828800"/>
            <a:ext cx="2880360" cy="3840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59" y="187451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Location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32520" y="1828800"/>
            <a:ext cx="2514600" cy="3840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187451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Retention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286000"/>
            <a:ext cx="11247120" cy="594360"/>
          </a:xfrm>
          <a:prstGeom prst="rect">
            <a:avLst/>
          </a:prstGeom>
          <a:solidFill>
            <a:srgbClr val="1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3774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Live Video Frames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23774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</a:rPr>
              <a:t>❌ NEVER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59" y="23774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23774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944368"/>
            <a:ext cx="11247120" cy="594360"/>
          </a:xfrm>
          <a:prstGeom prst="rect">
            <a:avLst/>
          </a:prstGeom>
          <a:solidFill>
            <a:srgbClr val="0D1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03580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Event Snapshots (JPEG)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0520" y="303580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59" y="303580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Local disk only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60" y="303580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7 days (auto)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602736"/>
            <a:ext cx="11247120" cy="594360"/>
          </a:xfrm>
          <a:prstGeom prst="rect">
            <a:avLst/>
          </a:prstGeom>
          <a:solidFill>
            <a:srgbClr val="0D1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694176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Detection Events (metadata)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3694176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59" y="3694176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SQLite / Supabase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3694176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User-controlled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261104"/>
            <a:ext cx="11247120" cy="594360"/>
          </a:xfrm>
          <a:prstGeom prst="rect">
            <a:avLst/>
          </a:prstGeom>
          <a:solidFill>
            <a:srgbClr val="0D1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352544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Security Audit Logs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60520" y="4352544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✅ Yes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59" y="4352544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SQLite / Supabase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435254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Permanent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919472"/>
            <a:ext cx="11247120" cy="594360"/>
          </a:xfrm>
          <a:prstGeom prst="rect">
            <a:avLst/>
          </a:prstGeom>
          <a:solidFill>
            <a:srgbClr val="1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01091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Face Identities / Biometrics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60520" y="501091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</a:rPr>
              <a:t>❌ NEVER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52159" y="501091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23960" y="501091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344168" cy="274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47548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Application Pages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4552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828800"/>
            <a:ext cx="3566160" cy="1325880"/>
          </a:xfrm>
          <a:prstGeom prst="rect">
            <a:avLst/>
          </a:prstGeom>
          <a:solidFill>
            <a:srgbClr val="131F35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🏠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59152"/>
            <a:ext cx="33832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BD5E1"/>
                </a:solidFill>
              </a:rPr>
              <a:t>Live camera feed, alert ticker, home mode control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79" y="1828800"/>
            <a:ext cx="3566160" cy="1325880"/>
          </a:xfrm>
          <a:prstGeom prst="rect">
            <a:avLst/>
          </a:prstGeom>
          <a:solidFill>
            <a:srgbClr val="131F35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920240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</a:rPr>
              <a:t>📱 Monitor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359152"/>
            <a:ext cx="33832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BD5E1"/>
                </a:solidFill>
              </a:rPr>
              <a:t>Phone streaming view with real-time AI overlay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75319" y="1828800"/>
            <a:ext cx="3566160" cy="1325880"/>
          </a:xfrm>
          <a:prstGeom prst="rect">
            <a:avLst/>
          </a:prstGeom>
          <a:solidFill>
            <a:srgbClr val="131F35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920240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</a:rPr>
              <a:t>📅 Timeline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359152"/>
            <a:ext cx="33832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BD5E1"/>
                </a:solidFill>
              </a:rPr>
              <a:t>Chronological event log with snapshots and filters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337560"/>
            <a:ext cx="3566160" cy="1325880"/>
          </a:xfrm>
          <a:prstGeom prst="rect">
            <a:avLst/>
          </a:prstGeom>
          <a:solidFill>
            <a:srgbClr val="131F3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429000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📊 Analytics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867911"/>
            <a:ext cx="33832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BD5E1"/>
                </a:solidFill>
              </a:rPr>
              <a:t>24h activity chart, hourly heatmap, anomaly scores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79" y="3337560"/>
            <a:ext cx="3566160" cy="1325880"/>
          </a:xfrm>
          <a:prstGeom prst="rect">
            <a:avLst/>
          </a:prstGeom>
          <a:solidFill>
            <a:srgbClr val="131F35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3429000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</a:rPr>
              <a:t>🔔 Alerts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867911"/>
            <a:ext cx="33832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BD5E1"/>
                </a:solidFill>
              </a:rPr>
              <a:t>Dedicated high-severity alert viewer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75319" y="3337560"/>
            <a:ext cx="3566160" cy="1325880"/>
          </a:xfrm>
          <a:prstGeom prst="rect">
            <a:avLst/>
          </a:prstGeom>
          <a:solidFill>
            <a:srgbClr val="131F35"/>
          </a:solidFill>
          <a:ln w="1524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3429000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7316"/>
                </a:solidFill>
              </a:rPr>
              <a:t>⚙️ Rules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867911"/>
            <a:ext cx="33832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BD5E1"/>
                </a:solidFill>
              </a:rPr>
              <a:t>Create custom detection rules per mode/zone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846320"/>
            <a:ext cx="3566160" cy="1325880"/>
          </a:xfrm>
          <a:prstGeom prst="rect">
            <a:avLst/>
          </a:prstGeom>
          <a:solidFill>
            <a:srgbClr val="131F35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937759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👥 Members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376672"/>
            <a:ext cx="33832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BD5E1"/>
                </a:solidFill>
              </a:rPr>
              <a:t>Manage household members and access levels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79" y="4846320"/>
            <a:ext cx="3566160" cy="1325880"/>
          </a:xfrm>
          <a:prstGeom prst="rect">
            <a:avLst/>
          </a:prstGeom>
          <a:solidFill>
            <a:srgbClr val="131F35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4840" y="4937759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</a:rPr>
              <a:t>📋 Audit Logs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5376672"/>
            <a:ext cx="33832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BD5E1"/>
                </a:solidFill>
              </a:rPr>
              <a:t>Immutable plain-text log of all admin actions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75319" y="4846320"/>
            <a:ext cx="3566160" cy="1325880"/>
          </a:xfrm>
          <a:prstGeom prst="rect">
            <a:avLst/>
          </a:prstGeom>
          <a:solidFill>
            <a:srgbClr val="131F35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4937759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</a:rPr>
              <a:t>🔧 Settings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5376672"/>
            <a:ext cx="33832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BD5E1"/>
                </a:solidFill>
              </a:rPr>
              <a:t>Timezone, alert thresholds, snapshot retention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581912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47548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Benchmark 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4552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BD5E1"/>
                </a:solidFill>
              </a:rPr>
              <a:t>Measured on: Intel Core i7 / NVIDIA RTX 3050 Laptop GPU / 16 GB RAM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94560"/>
            <a:ext cx="11247120" cy="713232"/>
          </a:xfrm>
          <a:prstGeom prst="rect">
            <a:avLst/>
          </a:prstGeom>
          <a:solidFill>
            <a:srgbClr val="131F3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359152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2860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</a:rPr>
              <a:t>YOLOv8 Inference Speed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0428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 i="0">
                <a:solidFill>
                  <a:srgbClr val="FFFFFF"/>
                </a:solidFill>
              </a:rPr>
              <a:t>18.5 ms  (p50)   /   34.2 ms  (p95)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035808"/>
            <a:ext cx="11247120" cy="713232"/>
          </a:xfrm>
          <a:prstGeom prst="rect">
            <a:avLst/>
          </a:prstGeom>
          <a:solidFill>
            <a:srgbClr val="131F35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00400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12724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</a:rPr>
              <a:t>End-to-End Round Trip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145536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 i="0">
                <a:solidFill>
                  <a:srgbClr val="FFFFFF"/>
                </a:solidFill>
              </a:rPr>
              <a:t>42 ms  (p50)   /   68.5 ms  (p95)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877056"/>
            <a:ext cx="11247120" cy="713232"/>
          </a:xfrm>
          <a:prstGeom prst="rect">
            <a:avLst/>
          </a:prstGeom>
          <a:solidFill>
            <a:srgbClr val="131F35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041648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968496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B6D4"/>
                </a:solidFill>
              </a:rPr>
              <a:t>GPU VRAM Used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986784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 i="0">
                <a:solidFill>
                  <a:srgbClr val="FFFFFF"/>
                </a:solidFill>
              </a:rPr>
              <a:t>~815 MB  /  4096 MB  ( ~20% load 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718304"/>
            <a:ext cx="11247120" cy="713232"/>
          </a:xfrm>
          <a:prstGeom prst="rect">
            <a:avLst/>
          </a:prstGeom>
          <a:solidFill>
            <a:srgbClr val="131F35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882896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🖥️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809744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B5CF6"/>
                </a:solidFill>
              </a:rPr>
              <a:t>CPU Usage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82803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 i="0">
                <a:solidFill>
                  <a:srgbClr val="FFFFFF"/>
                </a:solidFill>
              </a:rPr>
              <a:t>&lt; 8%  during live streaming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559552"/>
            <a:ext cx="11247120" cy="713232"/>
          </a:xfrm>
          <a:prstGeom prst="rect">
            <a:avLst/>
          </a:prstGeom>
          <a:solidFill>
            <a:srgbClr val="131F35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724144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565099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BBF24"/>
                </a:solidFill>
              </a:rPr>
              <a:t>Total RAM Footprint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6692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 i="0">
                <a:solidFill>
                  <a:srgbClr val="FFFFFF"/>
                </a:solidFill>
              </a:rPr>
              <a:t>~245 MB  (Gateway + AI Service)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463040" cy="2743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47548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Challenges &amp; How We Solved Them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4552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874519"/>
            <a:ext cx="5303520" cy="621792"/>
          </a:xfrm>
          <a:prstGeom prst="rect">
            <a:avLst/>
          </a:prstGeom>
          <a:solidFill>
            <a:srgbClr val="1A1005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80760" y="1874519"/>
            <a:ext cx="5760720" cy="621792"/>
          </a:xfrm>
          <a:prstGeom prst="rect">
            <a:avLst/>
          </a:prstGeom>
          <a:solidFill>
            <a:srgbClr val="131F3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BBF24"/>
                </a:solidFill>
              </a:rPr>
              <a:t>⚠️  Phone camera → laptop with no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9659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</a:rPr>
              <a:t>✅  Browser WebSocket streaming — works on any phone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624327"/>
            <a:ext cx="5303520" cy="621792"/>
          </a:xfrm>
          <a:prstGeom prst="rect">
            <a:avLst/>
          </a:prstGeom>
          <a:solidFill>
            <a:srgbClr val="1A1005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80760" y="2624327"/>
            <a:ext cx="5760720" cy="621792"/>
          </a:xfrm>
          <a:prstGeom prst="rect">
            <a:avLst/>
          </a:prstGeom>
          <a:solidFill>
            <a:srgbClr val="131F3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71576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BBF24"/>
                </a:solidFill>
              </a:rPr>
              <a:t>⚠️  Fast AI inference on a laptop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7157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</a:rPr>
              <a:t>✅  YOLOv8 Nano ONNX — tiny model, GPU optional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374135"/>
            <a:ext cx="5303520" cy="621792"/>
          </a:xfrm>
          <a:prstGeom prst="rect">
            <a:avLst/>
          </a:prstGeom>
          <a:solidFill>
            <a:srgbClr val="1A1005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80760" y="3374135"/>
            <a:ext cx="5760720" cy="621792"/>
          </a:xfrm>
          <a:prstGeom prst="rect">
            <a:avLst/>
          </a:prstGeom>
          <a:solidFill>
            <a:srgbClr val="131F3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465575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BBF24"/>
                </a:solidFill>
              </a:rPr>
              <a:t>⚠️  Too many false alerts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3465575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</a:rPr>
              <a:t>✅  Cooldown periods + event deduplication in Rule Engine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123944"/>
            <a:ext cx="5303520" cy="621792"/>
          </a:xfrm>
          <a:prstGeom prst="rect">
            <a:avLst/>
          </a:prstGeom>
          <a:solidFill>
            <a:srgbClr val="1A1005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80760" y="4123944"/>
            <a:ext cx="5760720" cy="621792"/>
          </a:xfrm>
          <a:prstGeom prst="rect">
            <a:avLst/>
          </a:prstGeom>
          <a:solidFill>
            <a:srgbClr val="131F3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215383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BBF24"/>
                </a:solidFill>
              </a:rPr>
              <a:t>⚠️  Loitering with no visual proof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4215383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</a:rPr>
              <a:t>✅  Snapshot captured at exact moment of alarm trigger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873752"/>
            <a:ext cx="5303520" cy="621792"/>
          </a:xfrm>
          <a:prstGeom prst="rect">
            <a:avLst/>
          </a:prstGeom>
          <a:solidFill>
            <a:srgbClr val="1A1005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80760" y="4873752"/>
            <a:ext cx="5760720" cy="621792"/>
          </a:xfrm>
          <a:prstGeom prst="rect">
            <a:avLst/>
          </a:prstGeom>
          <a:solidFill>
            <a:srgbClr val="131F3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96519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BBF24"/>
                </a:solidFill>
              </a:rPr>
              <a:t>⚠️  Privacy concern with face detection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496519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</a:rPr>
              <a:t>✅  Geometric occlusion only — zero identity features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623559"/>
            <a:ext cx="5303520" cy="621792"/>
          </a:xfrm>
          <a:prstGeom prst="rect">
            <a:avLst/>
          </a:prstGeom>
          <a:solidFill>
            <a:srgbClr val="1A1005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80760" y="5623559"/>
            <a:ext cx="5760720" cy="621792"/>
          </a:xfrm>
          <a:prstGeom prst="rect">
            <a:avLst/>
          </a:prstGeom>
          <a:solidFill>
            <a:srgbClr val="131F3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71499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BBF24"/>
                </a:solidFill>
              </a:rPr>
              <a:t>⚠️  Anomaly detection on sparse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571499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</a:rPr>
              <a:t>✅  7-day / 100-event guard before any scoring starts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1600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</a:rPr>
              <a:t>PROBLEM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1600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SOLUTION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1828800"/>
            <a:ext cx="5303520" cy="3657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80760" y="1828800"/>
            <a:ext cx="576072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097512" y="0"/>
            <a:ext cx="91440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SafeHome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1691640"/>
            <a:ext cx="8531352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BD5E1"/>
                </a:solidFill>
              </a:rPr>
              <a:t>🏠  Local-first home security  —  no cloud, no subscriptions, no privacy compromise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BD5E1"/>
                </a:solidFill>
              </a:rPr>
              <a:t>⚡  Real-time AI detection in under 42ms using YOLOv8 Nano ONNX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3756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BD5E1"/>
                </a:solidFill>
              </a:rPr>
              <a:t>😷  Face occlusion analysis  —  zero identity stored, zero biometrics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BD5E1"/>
                </a:solidFill>
              </a:rPr>
              <a:t>📊  Statistical anomaly engine with 7-day rolling 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0916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BD5E1"/>
                </a:solidFill>
              </a:rPr>
              <a:t>🔒  Privacy by design  —  GDPR-ready, auto-purge, neutral language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5440680"/>
            <a:ext cx="8531352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56235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6B6D4"/>
                </a:solidFill>
              </a:rPr>
              <a:t>Thank You!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30936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BD5E1"/>
                </a:solidFill>
              </a:rPr>
              <a:t>AI &amp; Data Science Project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